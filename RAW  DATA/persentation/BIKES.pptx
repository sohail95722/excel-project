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60" r:id="rId3"/>
    <p:sldId id="262" r:id="rId4"/>
    <p:sldId id="258" r:id="rId5"/>
    <p:sldId id="257" r:id="rId6"/>
    <p:sldId id="259" r:id="rId7"/>
    <p:sldId id="261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F506E2E-76A8-4515-ADE1-E6E8AE19E030}" v="8" dt="2025-09-25T11:48:49.5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hail ansari" userId="06f00a6f2fbb0ced" providerId="LiveId" clId="{605D1EF9-65ED-4085-939A-70905B6CFCDA}"/>
    <pc:docChg chg="custSel addSld modSld sldOrd">
      <pc:chgData name="sohail ansari" userId="06f00a6f2fbb0ced" providerId="LiveId" clId="{605D1EF9-65ED-4085-939A-70905B6CFCDA}" dt="2025-09-25T11:53:04.256" v="369" actId="20577"/>
      <pc:docMkLst>
        <pc:docMk/>
      </pc:docMkLst>
      <pc:sldChg chg="addSp modSp mod">
        <pc:chgData name="sohail ansari" userId="06f00a6f2fbb0ced" providerId="LiveId" clId="{605D1EF9-65ED-4085-939A-70905B6CFCDA}" dt="2025-09-25T11:41:56.926" v="142" actId="1076"/>
        <pc:sldMkLst>
          <pc:docMk/>
          <pc:sldMk cId="1217557861" sldId="256"/>
        </pc:sldMkLst>
        <pc:spChg chg="add mod">
          <ac:chgData name="sohail ansari" userId="06f00a6f2fbb0ced" providerId="LiveId" clId="{605D1EF9-65ED-4085-939A-70905B6CFCDA}" dt="2025-09-25T11:41:56.926" v="142" actId="1076"/>
          <ac:spMkLst>
            <pc:docMk/>
            <pc:sldMk cId="1217557861" sldId="256"/>
            <ac:spMk id="2" creationId="{F07D59DA-42F6-BCD0-DA73-F84713F0E284}"/>
          </ac:spMkLst>
        </pc:spChg>
      </pc:sldChg>
      <pc:sldChg chg="addSp delSp modSp mod ord">
        <pc:chgData name="sohail ansari" userId="06f00a6f2fbb0ced" providerId="LiveId" clId="{605D1EF9-65ED-4085-939A-70905B6CFCDA}" dt="2025-09-25T11:36:13.083" v="84"/>
        <pc:sldMkLst>
          <pc:docMk/>
          <pc:sldMk cId="3760390537" sldId="258"/>
        </pc:sldMkLst>
        <pc:picChg chg="add del mod">
          <ac:chgData name="sohail ansari" userId="06f00a6f2fbb0ced" providerId="LiveId" clId="{605D1EF9-65ED-4085-939A-70905B6CFCDA}" dt="2025-09-25T10:52:52.931" v="71" actId="21"/>
          <ac:picMkLst>
            <pc:docMk/>
            <pc:sldMk cId="3760390537" sldId="258"/>
            <ac:picMk id="4" creationId="{92594420-A18D-23B0-0637-1F275A373E50}"/>
          </ac:picMkLst>
        </pc:picChg>
        <pc:picChg chg="add mod">
          <ac:chgData name="sohail ansari" userId="06f00a6f2fbb0ced" providerId="LiveId" clId="{605D1EF9-65ED-4085-939A-70905B6CFCDA}" dt="2025-09-25T10:54:35.916" v="77" actId="14100"/>
          <ac:picMkLst>
            <pc:docMk/>
            <pc:sldMk cId="3760390537" sldId="258"/>
            <ac:picMk id="6" creationId="{9E3108DA-C4F0-DA34-5593-1A5BDA9635E4}"/>
          </ac:picMkLst>
        </pc:picChg>
      </pc:sldChg>
      <pc:sldChg chg="modSp mod">
        <pc:chgData name="sohail ansari" userId="06f00a6f2fbb0ced" providerId="LiveId" clId="{605D1EF9-65ED-4085-939A-70905B6CFCDA}" dt="2025-09-25T11:39:28.675" v="89" actId="1076"/>
        <pc:sldMkLst>
          <pc:docMk/>
          <pc:sldMk cId="1238710808" sldId="259"/>
        </pc:sldMkLst>
        <pc:spChg chg="mod">
          <ac:chgData name="sohail ansari" userId="06f00a6f2fbb0ced" providerId="LiveId" clId="{605D1EF9-65ED-4085-939A-70905B6CFCDA}" dt="2025-09-25T11:14:32.549" v="78" actId="1076"/>
          <ac:spMkLst>
            <pc:docMk/>
            <pc:sldMk cId="1238710808" sldId="259"/>
            <ac:spMk id="3" creationId="{DD0378E2-52F3-7EF7-AD0D-0459CD33BE3C}"/>
          </ac:spMkLst>
        </pc:spChg>
        <pc:spChg chg="mod">
          <ac:chgData name="sohail ansari" userId="06f00a6f2fbb0ced" providerId="LiveId" clId="{605D1EF9-65ED-4085-939A-70905B6CFCDA}" dt="2025-09-25T11:39:16.405" v="87" actId="207"/>
          <ac:spMkLst>
            <pc:docMk/>
            <pc:sldMk cId="1238710808" sldId="259"/>
            <ac:spMk id="4" creationId="{7E267568-A4C0-1174-F51E-A118AB352FE7}"/>
          </ac:spMkLst>
        </pc:spChg>
        <pc:spChg chg="mod">
          <ac:chgData name="sohail ansari" userId="06f00a6f2fbb0ced" providerId="LiveId" clId="{605D1EF9-65ED-4085-939A-70905B6CFCDA}" dt="2025-09-25T11:14:48.646" v="79" actId="1076"/>
          <ac:spMkLst>
            <pc:docMk/>
            <pc:sldMk cId="1238710808" sldId="259"/>
            <ac:spMk id="20" creationId="{C7CAF271-C89F-BB66-C79D-46E9A6CBAE7D}"/>
          </ac:spMkLst>
        </pc:spChg>
        <pc:spChg chg="mod">
          <ac:chgData name="sohail ansari" userId="06f00a6f2fbb0ced" providerId="LiveId" clId="{605D1EF9-65ED-4085-939A-70905B6CFCDA}" dt="2025-09-25T11:39:28.675" v="89" actId="1076"/>
          <ac:spMkLst>
            <pc:docMk/>
            <pc:sldMk cId="1238710808" sldId="259"/>
            <ac:spMk id="21" creationId="{1F67DA6F-9654-2367-4FC4-B1C84567BA8F}"/>
          </ac:spMkLst>
        </pc:spChg>
        <pc:spChg chg="mod">
          <ac:chgData name="sohail ansari" userId="06f00a6f2fbb0ced" providerId="LiveId" clId="{605D1EF9-65ED-4085-939A-70905B6CFCDA}" dt="2025-09-25T11:39:26.331" v="88" actId="1076"/>
          <ac:spMkLst>
            <pc:docMk/>
            <pc:sldMk cId="1238710808" sldId="259"/>
            <ac:spMk id="22" creationId="{EB48A2B6-5634-CC06-3C91-39F96B29E97C}"/>
          </ac:spMkLst>
        </pc:spChg>
        <pc:spChg chg="mod">
          <ac:chgData name="sohail ansari" userId="06f00a6f2fbb0ced" providerId="LiveId" clId="{605D1EF9-65ED-4085-939A-70905B6CFCDA}" dt="2025-09-25T11:14:53.175" v="80" actId="1076"/>
          <ac:spMkLst>
            <pc:docMk/>
            <pc:sldMk cId="1238710808" sldId="259"/>
            <ac:spMk id="23" creationId="{6F184190-545C-B322-B8F0-6496E58B99F7}"/>
          </ac:spMkLst>
        </pc:spChg>
      </pc:sldChg>
      <pc:sldChg chg="addSp modSp mod ord">
        <pc:chgData name="sohail ansari" userId="06f00a6f2fbb0ced" providerId="LiveId" clId="{605D1EF9-65ED-4085-939A-70905B6CFCDA}" dt="2025-09-25T09:14:34.053" v="68"/>
        <pc:sldMkLst>
          <pc:docMk/>
          <pc:sldMk cId="3571617545" sldId="260"/>
        </pc:sldMkLst>
        <pc:spChg chg="add mod">
          <ac:chgData name="sohail ansari" userId="06f00a6f2fbb0ced" providerId="LiveId" clId="{605D1EF9-65ED-4085-939A-70905B6CFCDA}" dt="2025-09-24T22:15:07.118" v="22" actId="255"/>
          <ac:spMkLst>
            <pc:docMk/>
            <pc:sldMk cId="3571617545" sldId="260"/>
            <ac:spMk id="2" creationId="{09DCF662-A080-812D-E29D-FC209A7B2451}"/>
          </ac:spMkLst>
        </pc:spChg>
        <pc:spChg chg="add mod">
          <ac:chgData name="sohail ansari" userId="06f00a6f2fbb0ced" providerId="LiveId" clId="{605D1EF9-65ED-4085-939A-70905B6CFCDA}" dt="2025-09-24T22:16:00.912" v="41" actId="20577"/>
          <ac:spMkLst>
            <pc:docMk/>
            <pc:sldMk cId="3571617545" sldId="260"/>
            <ac:spMk id="4" creationId="{B463B8FD-E70F-CE64-99E9-103FD6B6184A}"/>
          </ac:spMkLst>
        </pc:spChg>
        <pc:spChg chg="add mod">
          <ac:chgData name="sohail ansari" userId="06f00a6f2fbb0ced" providerId="LiveId" clId="{605D1EF9-65ED-4085-939A-70905B6CFCDA}" dt="2025-09-24T22:16:52.718" v="62" actId="20577"/>
          <ac:spMkLst>
            <pc:docMk/>
            <pc:sldMk cId="3571617545" sldId="260"/>
            <ac:spMk id="6" creationId="{115CC797-56E8-30BF-EA97-ED4E428FB9D4}"/>
          </ac:spMkLst>
        </pc:spChg>
      </pc:sldChg>
      <pc:sldChg chg="addSp modSp new mod">
        <pc:chgData name="sohail ansari" userId="06f00a6f2fbb0ced" providerId="LiveId" clId="{605D1EF9-65ED-4085-939A-70905B6CFCDA}" dt="2025-09-25T11:53:04.256" v="369" actId="20577"/>
        <pc:sldMkLst>
          <pc:docMk/>
          <pc:sldMk cId="4136319170" sldId="262"/>
        </pc:sldMkLst>
        <pc:spChg chg="add mod">
          <ac:chgData name="sohail ansari" userId="06f00a6f2fbb0ced" providerId="LiveId" clId="{605D1EF9-65ED-4085-939A-70905B6CFCDA}" dt="2025-09-25T11:48:28.917" v="161" actId="20577"/>
          <ac:spMkLst>
            <pc:docMk/>
            <pc:sldMk cId="4136319170" sldId="262"/>
            <ac:spMk id="2" creationId="{6E06D302-25D2-635F-DD58-04B2599365D3}"/>
          </ac:spMkLst>
        </pc:spChg>
        <pc:spChg chg="add mod">
          <ac:chgData name="sohail ansari" userId="06f00a6f2fbb0ced" providerId="LiveId" clId="{605D1EF9-65ED-4085-939A-70905B6CFCDA}" dt="2025-09-25T11:53:04.256" v="369" actId="20577"/>
          <ac:spMkLst>
            <pc:docMk/>
            <pc:sldMk cId="4136319170" sldId="262"/>
            <ac:spMk id="3" creationId="{59009C34-4652-31F9-91F1-42B54FCC96AF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ohai\AppData\Local\Temp\72feaf7b-0831-4f36-9cf4-b906246f324c_archive%20(3).zip.24c\bike_sales_india.csv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ohai\AppData\Local\Temp\72feaf7b-0831-4f36-9cf4-b906246f324c_archive%20(3).zip.24c\bike_sales_india.csv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ohai\AppData\Local\Temp\72feaf7b-0831-4f36-9cf4-b906246f324c_archive%20(3).zip.24c\bike_sales_india.csv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ohai\AppData\Local\Temp\72feaf7b-0831-4f36-9cf4-b906246f324c_archive%20(3).zip.24c\bike_sales_india.csv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pivotSource>
    <c:name>[bike_sales_india.csv]Sheet1!PivotTable1</c:name>
    <c:fmtId val="25"/>
  </c:pivotSource>
  <c:chart>
    <c:autoTitleDeleted val="1"/>
    <c:pivotFmts>
      <c:pivotFmt>
        <c:idx val="0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6881932528291396"/>
          <c:y val="0.18321147356580428"/>
          <c:w val="0.79384191029074525"/>
          <c:h val="0.4405469628796400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Sheet1!$A$4:$A$14</c:f>
              <c:strCache>
                <c:ptCount val="10"/>
                <c:pt idx="0">
                  <c:v>Delhi</c:v>
                </c:pt>
                <c:pt idx="1">
                  <c:v>Gujarat</c:v>
                </c:pt>
                <c:pt idx="2">
                  <c:v>Karnataka</c:v>
                </c:pt>
                <c:pt idx="3">
                  <c:v>Madhya Pradesh</c:v>
                </c:pt>
                <c:pt idx="4">
                  <c:v>Maharashtra</c:v>
                </c:pt>
                <c:pt idx="5">
                  <c:v>Punjab</c:v>
                </c:pt>
                <c:pt idx="6">
                  <c:v>Rajasthan</c:v>
                </c:pt>
                <c:pt idx="7">
                  <c:v>Tamil Nadu</c:v>
                </c:pt>
                <c:pt idx="8">
                  <c:v>Uttar Pradesh</c:v>
                </c:pt>
                <c:pt idx="9">
                  <c:v>West Bengal</c:v>
                </c:pt>
              </c:strCache>
            </c:strRef>
          </c:cat>
          <c:val>
            <c:numRef>
              <c:f>Sheet1!$B$4:$B$14</c:f>
              <c:numCache>
                <c:formatCode>General</c:formatCode>
                <c:ptCount val="10"/>
                <c:pt idx="0">
                  <c:v>147209.1792372881</c:v>
                </c:pt>
                <c:pt idx="1">
                  <c:v>149395.33203389833</c:v>
                </c:pt>
                <c:pt idx="2">
                  <c:v>136337.52723577234</c:v>
                </c:pt>
                <c:pt idx="3">
                  <c:v>136942.91027272731</c:v>
                </c:pt>
                <c:pt idx="4">
                  <c:v>126569.13576388889</c:v>
                </c:pt>
                <c:pt idx="5">
                  <c:v>139064.92292857147</c:v>
                </c:pt>
                <c:pt idx="6">
                  <c:v>134880.59192307686</c:v>
                </c:pt>
                <c:pt idx="7">
                  <c:v>124631.57088235296</c:v>
                </c:pt>
                <c:pt idx="8">
                  <c:v>135934.61440677967</c:v>
                </c:pt>
                <c:pt idx="9">
                  <c:v>135929.5530769231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7FC-459E-A6C8-7E73D0FFA51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2015379520"/>
        <c:axId val="2015376160"/>
      </c:barChart>
      <c:catAx>
        <c:axId val="20153795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15376160"/>
        <c:crosses val="autoZero"/>
        <c:auto val="1"/>
        <c:lblAlgn val="ctr"/>
        <c:lblOffset val="100"/>
        <c:noMultiLvlLbl val="0"/>
      </c:catAx>
      <c:valAx>
        <c:axId val="20153761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15379520"/>
        <c:crosses val="autoZero"/>
        <c:crossBetween val="between"/>
        <c:dispUnits>
          <c:builtInUnit val="thousands"/>
          <c:dispUnitsLbl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</c:dispUnitsLbl>
        </c:dispUnits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>
      <a:solidFill>
        <a:schemeClr val="accent5">
          <a:lumMod val="40000"/>
          <a:lumOff val="60000"/>
        </a:schemeClr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[bike_sales_india.csv]Sheet3!PivotTable3</c:name>
    <c:fmtId val="22"/>
  </c:pivotSource>
  <c:chart>
    <c:autoTitleDeleted val="1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cked"/>
        <c:varyColors val="0"/>
        <c:ser>
          <c:idx val="0"/>
          <c:order val="0"/>
          <c:tx>
            <c:strRef>
              <c:f>Sheet3!$B$3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errBars>
            <c:errDir val="y"/>
            <c:errBarType val="both"/>
            <c:errValType val="stdErr"/>
            <c:noEndCap val="0"/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strRef>
              <c:f>Sheet3!$A$4:$A$11</c:f>
              <c:strCache>
                <c:ptCount val="7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</c:strCache>
            </c:strRef>
          </c:cat>
          <c:val>
            <c:numRef>
              <c:f>Sheet3!$B$4:$B$11</c:f>
              <c:numCache>
                <c:formatCode>General</c:formatCode>
                <c:ptCount val="7"/>
                <c:pt idx="0">
                  <c:v>134441.2056372549</c:v>
                </c:pt>
                <c:pt idx="1">
                  <c:v>139656.21809523815</c:v>
                </c:pt>
                <c:pt idx="2">
                  <c:v>142227.33439024392</c:v>
                </c:pt>
                <c:pt idx="3">
                  <c:v>125335.55280898871</c:v>
                </c:pt>
                <c:pt idx="4">
                  <c:v>140413.39080459773</c:v>
                </c:pt>
                <c:pt idx="5">
                  <c:v>134551.85505747126</c:v>
                </c:pt>
                <c:pt idx="6">
                  <c:v>135044.75233009705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20D-4E3E-BA25-0DDD17F78D6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15063200"/>
        <c:axId val="814281664"/>
      </c:lineChart>
      <c:catAx>
        <c:axId val="8150632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14281664"/>
        <c:crosses val="autoZero"/>
        <c:auto val="1"/>
        <c:lblAlgn val="ctr"/>
        <c:lblOffset val="100"/>
        <c:noMultiLvlLbl val="0"/>
      </c:catAx>
      <c:valAx>
        <c:axId val="8142816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15063200"/>
        <c:crosses val="autoZero"/>
        <c:crossBetween val="between"/>
        <c:dispUnits>
          <c:builtInUnit val="thousands"/>
          <c:dispUnitsLbl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</c:dispUnitsLbl>
        </c:dispUnits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[bike_sales_india.csv]Sheet4!PivotTable4</c:name>
    <c:fmtId val="26"/>
  </c:pivotSource>
  <c:chart>
    <c:autoTitleDeleted val="1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</c:pivotFmts>
    <c:plotArea>
      <c:layout>
        <c:manualLayout>
          <c:layoutTarget val="inner"/>
          <c:xMode val="edge"/>
          <c:yMode val="edge"/>
          <c:x val="0.23987348863602478"/>
          <c:y val="0.13596678980910995"/>
          <c:w val="0.38107832391643981"/>
          <c:h val="0.7506717062807986"/>
        </c:manualLayout>
      </c:layout>
      <c:doughnutChart>
        <c:varyColors val="1"/>
        <c:ser>
          <c:idx val="0"/>
          <c:order val="0"/>
          <c:tx>
            <c:strRef>
              <c:f>Sheet4!$B$3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EDD-41BE-8083-7AA9B70CF6B4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4EDD-41BE-8083-7AA9B70CF6B4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4EDD-41BE-8083-7AA9B70CF6B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Sheet4!$A$4:$A$7</c:f>
              <c:strCache>
                <c:ptCount val="3"/>
                <c:pt idx="0">
                  <c:v>First</c:v>
                </c:pt>
                <c:pt idx="1">
                  <c:v>Second</c:v>
                </c:pt>
                <c:pt idx="2">
                  <c:v>Third</c:v>
                </c:pt>
              </c:strCache>
            </c:strRef>
          </c:cat>
          <c:val>
            <c:numRef>
              <c:f>Sheet4!$B$4:$B$7</c:f>
              <c:numCache>
                <c:formatCode>General</c:formatCode>
                <c:ptCount val="3"/>
                <c:pt idx="0">
                  <c:v>3407</c:v>
                </c:pt>
                <c:pt idx="1">
                  <c:v>3336</c:v>
                </c:pt>
                <c:pt idx="2">
                  <c:v>3257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EDD-41BE-8083-7AA9B70CF6B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[bike_sales_india.csv]Sheet8!PivotTable8</c:name>
    <c:fmtId val="23"/>
  </c:pivotSource>
  <c:chart>
    <c:autoTitleDeleted val="1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</c:pivotFmts>
    <c:plotArea>
      <c:layout/>
      <c:pieChart>
        <c:varyColors val="1"/>
        <c:ser>
          <c:idx val="0"/>
          <c:order val="0"/>
          <c:tx>
            <c:strRef>
              <c:f>Sheet8!$B$3</c:f>
              <c:strCache>
                <c:ptCount val="1"/>
                <c:pt idx="0">
                  <c:v>Total</c:v>
                </c:pt>
              </c:strCache>
            </c:strRef>
          </c:tx>
          <c:explosion val="3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707-4559-8983-6925DE98DDE2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707-4559-8983-6925DE98DDE2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7707-4559-8983-6925DE98DDE2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0"/>
            <c:showCatName val="0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Sheet8!$A$4:$A$7</c:f>
              <c:strCache>
                <c:ptCount val="3"/>
                <c:pt idx="0">
                  <c:v>Electric</c:v>
                </c:pt>
                <c:pt idx="1">
                  <c:v>Hybrid</c:v>
                </c:pt>
                <c:pt idx="2">
                  <c:v>Petrol</c:v>
                </c:pt>
              </c:strCache>
            </c:strRef>
          </c:cat>
          <c:val>
            <c:numRef>
              <c:f>Sheet8!$B$4:$B$7</c:f>
              <c:numCache>
                <c:formatCode>General</c:formatCode>
                <c:ptCount val="3"/>
                <c:pt idx="0">
                  <c:v>42.962275357904417</c:v>
                </c:pt>
                <c:pt idx="1">
                  <c:v>42.230755952381038</c:v>
                </c:pt>
                <c:pt idx="2">
                  <c:v>42.416082812034567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7707-4559-8983-6925DE98DD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withinLinear" id="19">
  <a:schemeClr val="accent6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36119-484F-4BE6-9ED2-9404381CE656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D71DA-DB2D-4C72-AAA8-84299EC785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27472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36119-484F-4BE6-9ED2-9404381CE656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D71DA-DB2D-4C72-AAA8-84299EC785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88918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36119-484F-4BE6-9ED2-9404381CE656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D71DA-DB2D-4C72-AAA8-84299EC785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2710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36119-484F-4BE6-9ED2-9404381CE656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D71DA-DB2D-4C72-AAA8-84299EC785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20699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36119-484F-4BE6-9ED2-9404381CE656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D71DA-DB2D-4C72-AAA8-84299EC785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7763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36119-484F-4BE6-9ED2-9404381CE656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D71DA-DB2D-4C72-AAA8-84299EC785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64665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36119-484F-4BE6-9ED2-9404381CE656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D71DA-DB2D-4C72-AAA8-84299EC785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8459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36119-484F-4BE6-9ED2-9404381CE656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D71DA-DB2D-4C72-AAA8-84299EC785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0483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D71DA-DB2D-4C72-AAA8-84299EC785C6}" type="slidenum">
              <a:rPr lang="en-IN" smtClean="0"/>
              <a:t>‹#›</a:t>
            </a:fld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36119-484F-4BE6-9ED2-9404381CE656}" type="datetimeFigureOut">
              <a:rPr lang="en-IN" smtClean="0"/>
              <a:t>25-09-2025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40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36119-484F-4BE6-9ED2-9404381CE656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D71DA-DB2D-4C72-AAA8-84299EC785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6884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36119-484F-4BE6-9ED2-9404381CE656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D71DA-DB2D-4C72-AAA8-84299EC785C6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995009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36119-484F-4BE6-9ED2-9404381CE656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D71DA-DB2D-4C72-AAA8-84299EC785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9068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36119-484F-4BE6-9ED2-9404381CE656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D71DA-DB2D-4C72-AAA8-84299EC785C6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365974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36119-484F-4BE6-9ED2-9404381CE656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D71DA-DB2D-4C72-AAA8-84299EC785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96004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36119-484F-4BE6-9ED2-9404381CE656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D71DA-DB2D-4C72-AAA8-84299EC785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84903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36119-484F-4BE6-9ED2-9404381CE656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D71DA-DB2D-4C72-AAA8-84299EC785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54850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036119-484F-4BE6-9ED2-9404381CE656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E14D71DA-DB2D-4C72-AAA8-84299EC785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9529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chart" Target="../charts/chart1.xml"/><Relationship Id="rId7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Relationship Id="rId9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07D59DA-42F6-BCD0-DA73-F84713F0E284}"/>
              </a:ext>
            </a:extLst>
          </p:cNvPr>
          <p:cNvSpPr txBox="1"/>
          <p:nvPr/>
        </p:nvSpPr>
        <p:spPr>
          <a:xfrm>
            <a:off x="2290917" y="2105561"/>
            <a:ext cx="59485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BIKES SALES </a:t>
            </a:r>
          </a:p>
          <a:p>
            <a:pPr algn="ctr"/>
            <a:r>
              <a:rPr lang="en-US" sz="4000" b="1" dirty="0"/>
              <a:t>INDIA </a:t>
            </a:r>
            <a:endParaRPr lang="en-IN" sz="4000" b="1" dirty="0"/>
          </a:p>
        </p:txBody>
      </p:sp>
    </p:spTree>
    <p:extLst>
      <p:ext uri="{BB962C8B-B14F-4D97-AF65-F5344CB8AC3E}">
        <p14:creationId xmlns:p14="http://schemas.microsoft.com/office/powerpoint/2010/main" val="12175578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9DCF662-A080-812D-E29D-FC209A7B2451}"/>
              </a:ext>
            </a:extLst>
          </p:cNvPr>
          <p:cNvSpPr txBox="1"/>
          <p:nvPr/>
        </p:nvSpPr>
        <p:spPr>
          <a:xfrm>
            <a:off x="2025445" y="285135"/>
            <a:ext cx="65482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/>
              <a:t>MISSION AND VISION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63B8FD-E70F-CE64-99E9-103FD6B6184A}"/>
              </a:ext>
            </a:extLst>
          </p:cNvPr>
          <p:cNvSpPr txBox="1"/>
          <p:nvPr/>
        </p:nvSpPr>
        <p:spPr>
          <a:xfrm>
            <a:off x="1582994" y="685245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Mission:</a:t>
            </a:r>
          </a:p>
          <a:p>
            <a:r>
              <a:rPr lang="en-IN" dirty="0"/>
              <a:t>To empower the two-wheeler industry in India with data-driven intelligence by providing accurate, timely analysis of vehicle registration trends, seller </a:t>
            </a:r>
            <a:r>
              <a:rPr lang="en-IN" dirty="0" err="1"/>
              <a:t>behaviors</a:t>
            </a:r>
            <a:r>
              <a:rPr lang="en-IN" dirty="0"/>
              <a:t> , and regional market penetration. We are committed to helping manufacturers, dealers, and policymakers understand the dynamics of the active and expired vehicle ecosystem, particularly in Tier 3 and metro markets, to drive strategic decision-making and sustainable growth.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5CC797-56E8-30BF-EA97-ED4E428FB9D4}"/>
              </a:ext>
            </a:extLst>
          </p:cNvPr>
          <p:cNvSpPr txBox="1"/>
          <p:nvPr/>
        </p:nvSpPr>
        <p:spPr>
          <a:xfrm>
            <a:off x="1474840" y="3670678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Vision:</a:t>
            </a:r>
          </a:p>
          <a:p>
            <a:r>
              <a:rPr lang="en-IN" dirty="0"/>
              <a:t>To become the most trusted and comprehensive platform for two-wheeler market analytics in India, revolutionizing how businesses track vehicle lifecycle, forecast demand, and optimize their strategies across every tier of the market.</a:t>
            </a:r>
          </a:p>
        </p:txBody>
      </p:sp>
    </p:spTree>
    <p:extLst>
      <p:ext uri="{BB962C8B-B14F-4D97-AF65-F5344CB8AC3E}">
        <p14:creationId xmlns:p14="http://schemas.microsoft.com/office/powerpoint/2010/main" val="35716175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06D302-25D2-635F-DD58-04B2599365D3}"/>
              </a:ext>
            </a:extLst>
          </p:cNvPr>
          <p:cNvSpPr txBox="1"/>
          <p:nvPr/>
        </p:nvSpPr>
        <p:spPr>
          <a:xfrm>
            <a:off x="2015613" y="285135"/>
            <a:ext cx="29791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 DESCRIPTION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009C34-4652-31F9-91F1-42B54FCC96AF}"/>
              </a:ext>
            </a:extLst>
          </p:cNvPr>
          <p:cNvSpPr txBox="1"/>
          <p:nvPr/>
        </p:nvSpPr>
        <p:spPr>
          <a:xfrm>
            <a:off x="1582993" y="1199535"/>
            <a:ext cx="341179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STATE</a:t>
            </a:r>
          </a:p>
          <a:p>
            <a:pPr marL="342900" indent="-342900">
              <a:buAutoNum type="arabicPeriod"/>
            </a:pPr>
            <a:r>
              <a:rPr lang="en-IN" dirty="0"/>
              <a:t>AVG DAILY DISTANCE</a:t>
            </a:r>
          </a:p>
          <a:p>
            <a:pPr marL="342900" indent="-342900">
              <a:buAutoNum type="arabicPeriod"/>
            </a:pPr>
            <a:r>
              <a:rPr lang="en-IN" dirty="0"/>
              <a:t>BRAND</a:t>
            </a:r>
          </a:p>
          <a:p>
            <a:pPr marL="342900" indent="-342900">
              <a:buAutoNum type="arabicPeriod"/>
            </a:pPr>
            <a:r>
              <a:rPr lang="en-IN" dirty="0"/>
              <a:t>MODEL</a:t>
            </a:r>
          </a:p>
          <a:p>
            <a:pPr marL="342900" indent="-342900">
              <a:buAutoNum type="arabicPeriod"/>
            </a:pPr>
            <a:r>
              <a:rPr lang="en-IN" dirty="0"/>
              <a:t>PRICE</a:t>
            </a:r>
          </a:p>
          <a:p>
            <a:pPr marL="342900" indent="-342900">
              <a:buAutoNum type="arabicPeriod"/>
            </a:pPr>
            <a:r>
              <a:rPr lang="en-IN" dirty="0"/>
              <a:t>YEAR OF MANFACTURE</a:t>
            </a:r>
          </a:p>
          <a:p>
            <a:pPr marL="342900" indent="-342900">
              <a:buAutoNum type="arabicPeriod"/>
            </a:pPr>
            <a:r>
              <a:rPr lang="en-IN" dirty="0"/>
              <a:t>ENGINE CAPACITY</a:t>
            </a:r>
          </a:p>
          <a:p>
            <a:pPr marL="342900" indent="-342900">
              <a:buAutoNum type="arabicPeriod"/>
            </a:pPr>
            <a:r>
              <a:rPr lang="en-IN" dirty="0"/>
              <a:t>FUEL TYPE</a:t>
            </a:r>
          </a:p>
          <a:p>
            <a:pPr marL="342900" indent="-342900">
              <a:buAutoNum type="arabicPeriod"/>
            </a:pPr>
            <a:r>
              <a:rPr lang="en-IN" dirty="0"/>
              <a:t>MILAGE</a:t>
            </a:r>
          </a:p>
          <a:p>
            <a:pPr marL="342900" indent="-342900">
              <a:buAutoNum type="arabicPeriod"/>
            </a:pPr>
            <a:r>
              <a:rPr lang="en-IN" dirty="0"/>
              <a:t>OWNER TYPE</a:t>
            </a:r>
          </a:p>
          <a:p>
            <a:pPr marL="342900" indent="-342900">
              <a:buAutoNum type="arabicPeriod"/>
            </a:pPr>
            <a:r>
              <a:rPr lang="en-IN" dirty="0"/>
              <a:t>REGISTRATION YEAR</a:t>
            </a:r>
          </a:p>
          <a:p>
            <a:pPr marL="342900" indent="-342900">
              <a:buAutoNum type="arabicPeriod"/>
            </a:pPr>
            <a:r>
              <a:rPr lang="en-IN" dirty="0"/>
              <a:t>INSURANCE TYPE</a:t>
            </a:r>
          </a:p>
          <a:p>
            <a:pPr marL="342900" indent="-342900">
              <a:buAutoNum type="arabicPeriod"/>
            </a:pPr>
            <a:r>
              <a:rPr lang="en-IN" dirty="0"/>
              <a:t>SELLER TYPE</a:t>
            </a:r>
          </a:p>
          <a:p>
            <a:pPr marL="342900" indent="-342900">
              <a:buAutoNum type="arabicPeriod"/>
            </a:pPr>
            <a:r>
              <a:rPr lang="en-IN" dirty="0"/>
              <a:t>RESCALE PRICE</a:t>
            </a:r>
          </a:p>
          <a:p>
            <a:pPr marL="342900" indent="-342900">
              <a:buAutoNum type="arabicPeriod"/>
            </a:pPr>
            <a:r>
              <a:rPr lang="en-IN"/>
              <a:t>TIER TYPE</a:t>
            </a:r>
            <a:endParaRPr lang="en-IN" dirty="0"/>
          </a:p>
          <a:p>
            <a:pPr marL="342900" indent="-342900">
              <a:buAutoNum type="arabicPeriod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63191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3DE355-D623-B4A4-0CAE-48237956E53A}"/>
              </a:ext>
            </a:extLst>
          </p:cNvPr>
          <p:cNvSpPr txBox="1"/>
          <p:nvPr/>
        </p:nvSpPr>
        <p:spPr>
          <a:xfrm>
            <a:off x="3618689" y="165370"/>
            <a:ext cx="39105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/>
              <a:t>EXCEL DATASET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3108DA-C4F0-DA34-5593-1A5BDA9635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819" y="688590"/>
            <a:ext cx="11946194" cy="6076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3905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9FC571CD-05E8-0534-623C-539A6D3FA7A5}"/>
              </a:ext>
            </a:extLst>
          </p:cNvPr>
          <p:cNvSpPr txBox="1"/>
          <p:nvPr/>
        </p:nvSpPr>
        <p:spPr>
          <a:xfrm>
            <a:off x="2947481" y="223736"/>
            <a:ext cx="51751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/>
              <a:t>KPIS AND INSIGHTS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1A16673-D357-78E2-CAE5-A2CFC75E4806}"/>
              </a:ext>
            </a:extLst>
          </p:cNvPr>
          <p:cNvSpPr/>
          <p:nvPr/>
        </p:nvSpPr>
        <p:spPr>
          <a:xfrm>
            <a:off x="4076371" y="1095348"/>
            <a:ext cx="2324911" cy="153697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1F9E233-E26D-269E-7C8D-F6E86DF93331}"/>
              </a:ext>
            </a:extLst>
          </p:cNvPr>
          <p:cNvSpPr/>
          <p:nvPr/>
        </p:nvSpPr>
        <p:spPr>
          <a:xfrm>
            <a:off x="6529709" y="2811642"/>
            <a:ext cx="2324911" cy="153697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3D5FA94-0BA9-2DF2-F2AE-EC529ADCBA42}"/>
              </a:ext>
            </a:extLst>
          </p:cNvPr>
          <p:cNvSpPr/>
          <p:nvPr/>
        </p:nvSpPr>
        <p:spPr>
          <a:xfrm>
            <a:off x="4070879" y="2811642"/>
            <a:ext cx="2324911" cy="153697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281C64A-A440-FCD7-107F-C0EE83054D08}"/>
              </a:ext>
            </a:extLst>
          </p:cNvPr>
          <p:cNvSpPr/>
          <p:nvPr/>
        </p:nvSpPr>
        <p:spPr>
          <a:xfrm>
            <a:off x="6529709" y="1066974"/>
            <a:ext cx="2324911" cy="153697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B417EE4-B4D5-9FD0-9EA7-8ECA71F6BD17}"/>
              </a:ext>
            </a:extLst>
          </p:cNvPr>
          <p:cNvSpPr/>
          <p:nvPr/>
        </p:nvSpPr>
        <p:spPr>
          <a:xfrm>
            <a:off x="4344209" y="1219202"/>
            <a:ext cx="1789234" cy="40011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TOTAL COST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80D3DA5-CD92-DB3F-6434-4350E9FBE277}"/>
              </a:ext>
            </a:extLst>
          </p:cNvPr>
          <p:cNvSpPr/>
          <p:nvPr/>
        </p:nvSpPr>
        <p:spPr>
          <a:xfrm>
            <a:off x="6733334" y="1208490"/>
            <a:ext cx="1789234" cy="40011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TOTAL</a:t>
            </a:r>
            <a:r>
              <a:rPr lang="en-IN" sz="1600" b="1" baseline="0">
                <a:solidFill>
                  <a:schemeClr val="tx1">
                    <a:lumMod val="75000"/>
                    <a:lumOff val="25000"/>
                  </a:schemeClr>
                </a:solidFill>
              </a:rPr>
              <a:t> UNITS</a:t>
            </a:r>
            <a:endParaRPr lang="en-IN" sz="16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E6EBAC8-086D-184F-1051-1A1C8C6497ED}"/>
              </a:ext>
            </a:extLst>
          </p:cNvPr>
          <p:cNvSpPr/>
          <p:nvPr/>
        </p:nvSpPr>
        <p:spPr>
          <a:xfrm>
            <a:off x="6797547" y="3047072"/>
            <a:ext cx="1789234" cy="40011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TOTAL STATES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AE82625-D325-A0A1-1D56-3BB57487E133}"/>
              </a:ext>
            </a:extLst>
          </p:cNvPr>
          <p:cNvSpPr/>
          <p:nvPr/>
        </p:nvSpPr>
        <p:spPr>
          <a:xfrm>
            <a:off x="6797547" y="3627143"/>
            <a:ext cx="1789234" cy="4572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CE304517-A62A-4B88-83BA-F6A963B541F0}" type="TxLink">
              <a:rPr lang="en-US" sz="1600" b="1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pPr algn="ctr"/>
              <a:t>10</a:t>
            </a:fld>
            <a:endParaRPr lang="en-IN" sz="1600" b="1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2E34133-B8C5-BBF3-0433-4AAB5C638E07}"/>
              </a:ext>
            </a:extLst>
          </p:cNvPr>
          <p:cNvSpPr/>
          <p:nvPr/>
        </p:nvSpPr>
        <p:spPr>
          <a:xfrm>
            <a:off x="6733334" y="1863833"/>
            <a:ext cx="1789234" cy="4572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D8B88C6-B1DF-4438-9367-66801FC7095E}" type="TxLink">
              <a:rPr lang="en-US" sz="1800" b="1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pPr algn="ctr"/>
              <a:t>40</a:t>
            </a:fld>
            <a:endParaRPr lang="en-IN" sz="1800" b="1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43BE9E4-CBF6-67F0-CFC8-16B84D723FF5}"/>
              </a:ext>
            </a:extLst>
          </p:cNvPr>
          <p:cNvSpPr/>
          <p:nvPr/>
        </p:nvSpPr>
        <p:spPr>
          <a:xfrm>
            <a:off x="4344209" y="1862214"/>
            <a:ext cx="1789234" cy="4572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C9917CF5-1592-404D-8EF8-35CFF58AE09F}" type="TxLink">
              <a:rPr lang="en-US" sz="1600" b="1" i="0" u="none" strike="noStrike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</a:rPr>
              <a:pPr algn="ctr"/>
              <a:t>2243287224</a:t>
            </a:fld>
            <a:endParaRPr lang="en-IN" sz="16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6E2ACD6-415B-BAEB-7F6E-CF75B6DC9D26}"/>
              </a:ext>
            </a:extLst>
          </p:cNvPr>
          <p:cNvSpPr/>
          <p:nvPr/>
        </p:nvSpPr>
        <p:spPr>
          <a:xfrm>
            <a:off x="4344209" y="3043487"/>
            <a:ext cx="1789234" cy="40369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TOTAL</a:t>
            </a:r>
            <a:r>
              <a:rPr lang="en-IN" sz="1600" b="1" baseline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SALES</a:t>
            </a:r>
          </a:p>
          <a:p>
            <a:pPr algn="ctr"/>
            <a:endParaRPr lang="en-IN" sz="1600" b="1" baseline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E68CA5F-A876-5400-571D-EF93732D50FC}"/>
              </a:ext>
            </a:extLst>
          </p:cNvPr>
          <p:cNvSpPr/>
          <p:nvPr/>
        </p:nvSpPr>
        <p:spPr>
          <a:xfrm>
            <a:off x="4352162" y="3591208"/>
            <a:ext cx="1789234" cy="4318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2280EBD-B7C8-48A5-8E3C-54BDDDA4E0A1}" type="TxLink">
              <a:rPr lang="en-US" sz="1800" b="1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pPr algn="ctr"/>
              <a:t>1338289740</a:t>
            </a:fld>
            <a:endParaRPr lang="en-IN" sz="180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51D61F7-5DEA-8F8F-5024-2104599141BC}"/>
              </a:ext>
            </a:extLst>
          </p:cNvPr>
          <p:cNvSpPr txBox="1"/>
          <p:nvPr/>
        </p:nvSpPr>
        <p:spPr>
          <a:xfrm>
            <a:off x="525294" y="1155629"/>
            <a:ext cx="3125984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This is a bike sales dataset that contains information about various bikes and their features.</a:t>
            </a:r>
          </a:p>
          <a:p>
            <a:r>
              <a:rPr lang="en-US" sz="2000" b="1" dirty="0"/>
              <a:t> By using this dataset, you can analyze important trends related to bike sales</a:t>
            </a:r>
          </a:p>
          <a:p>
            <a:r>
              <a:rPr lang="en-US" sz="2000" b="1" dirty="0"/>
              <a:t>We used by excel to create to visualizations of key performance indicates (KPIs)like sales performance  , total cost and  region-wise </a:t>
            </a:r>
            <a:r>
              <a:rPr lang="en-US" sz="2000" b="1" dirty="0" err="1"/>
              <a:t>analysics</a:t>
            </a:r>
            <a:r>
              <a:rPr lang="en-US" sz="2000" b="1" dirty="0"/>
              <a:t> .</a:t>
            </a:r>
            <a:endParaRPr lang="en-IN" sz="2000" b="1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1C75EAC-F6E3-CADA-A4A5-7F64014C01D2}"/>
              </a:ext>
            </a:extLst>
          </p:cNvPr>
          <p:cNvSpPr txBox="1"/>
          <p:nvPr/>
        </p:nvSpPr>
        <p:spPr>
          <a:xfrm>
            <a:off x="770453" y="726016"/>
            <a:ext cx="2451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INTRODUCTIONS</a:t>
            </a:r>
          </a:p>
        </p:txBody>
      </p:sp>
    </p:spTree>
    <p:extLst>
      <p:ext uri="{BB962C8B-B14F-4D97-AF65-F5344CB8AC3E}">
        <p14:creationId xmlns:p14="http://schemas.microsoft.com/office/powerpoint/2010/main" val="39352012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A93EE22-9303-05FB-5A30-0CAA7AB048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7578099"/>
              </p:ext>
            </p:extLst>
          </p:nvPr>
        </p:nvGraphicFramePr>
        <p:xfrm>
          <a:off x="326051" y="0"/>
          <a:ext cx="7023006" cy="4023360"/>
        </p:xfrm>
        <a:graphic>
          <a:graphicData uri="http://schemas.openxmlformats.org/drawingml/2006/table">
            <a:tbl>
              <a:tblPr/>
              <a:tblGrid>
                <a:gridCol w="390167">
                  <a:extLst>
                    <a:ext uri="{9D8B030D-6E8A-4147-A177-3AD203B41FA5}">
                      <a16:colId xmlns:a16="http://schemas.microsoft.com/office/drawing/2014/main" val="1392498799"/>
                    </a:ext>
                  </a:extLst>
                </a:gridCol>
                <a:gridCol w="390167">
                  <a:extLst>
                    <a:ext uri="{9D8B030D-6E8A-4147-A177-3AD203B41FA5}">
                      <a16:colId xmlns:a16="http://schemas.microsoft.com/office/drawing/2014/main" val="2212157429"/>
                    </a:ext>
                  </a:extLst>
                </a:gridCol>
                <a:gridCol w="390167">
                  <a:extLst>
                    <a:ext uri="{9D8B030D-6E8A-4147-A177-3AD203B41FA5}">
                      <a16:colId xmlns:a16="http://schemas.microsoft.com/office/drawing/2014/main" val="369657601"/>
                    </a:ext>
                  </a:extLst>
                </a:gridCol>
                <a:gridCol w="390167">
                  <a:extLst>
                    <a:ext uri="{9D8B030D-6E8A-4147-A177-3AD203B41FA5}">
                      <a16:colId xmlns:a16="http://schemas.microsoft.com/office/drawing/2014/main" val="1520377018"/>
                    </a:ext>
                  </a:extLst>
                </a:gridCol>
                <a:gridCol w="390167">
                  <a:extLst>
                    <a:ext uri="{9D8B030D-6E8A-4147-A177-3AD203B41FA5}">
                      <a16:colId xmlns:a16="http://schemas.microsoft.com/office/drawing/2014/main" val="3673562338"/>
                    </a:ext>
                  </a:extLst>
                </a:gridCol>
                <a:gridCol w="390167">
                  <a:extLst>
                    <a:ext uri="{9D8B030D-6E8A-4147-A177-3AD203B41FA5}">
                      <a16:colId xmlns:a16="http://schemas.microsoft.com/office/drawing/2014/main" val="854993205"/>
                    </a:ext>
                  </a:extLst>
                </a:gridCol>
                <a:gridCol w="390167">
                  <a:extLst>
                    <a:ext uri="{9D8B030D-6E8A-4147-A177-3AD203B41FA5}">
                      <a16:colId xmlns:a16="http://schemas.microsoft.com/office/drawing/2014/main" val="425325960"/>
                    </a:ext>
                  </a:extLst>
                </a:gridCol>
                <a:gridCol w="390167">
                  <a:extLst>
                    <a:ext uri="{9D8B030D-6E8A-4147-A177-3AD203B41FA5}">
                      <a16:colId xmlns:a16="http://schemas.microsoft.com/office/drawing/2014/main" val="4030402335"/>
                    </a:ext>
                  </a:extLst>
                </a:gridCol>
                <a:gridCol w="390167">
                  <a:extLst>
                    <a:ext uri="{9D8B030D-6E8A-4147-A177-3AD203B41FA5}">
                      <a16:colId xmlns:a16="http://schemas.microsoft.com/office/drawing/2014/main" val="3100150330"/>
                    </a:ext>
                  </a:extLst>
                </a:gridCol>
                <a:gridCol w="390167">
                  <a:extLst>
                    <a:ext uri="{9D8B030D-6E8A-4147-A177-3AD203B41FA5}">
                      <a16:colId xmlns:a16="http://schemas.microsoft.com/office/drawing/2014/main" val="432685469"/>
                    </a:ext>
                  </a:extLst>
                </a:gridCol>
                <a:gridCol w="390167">
                  <a:extLst>
                    <a:ext uri="{9D8B030D-6E8A-4147-A177-3AD203B41FA5}">
                      <a16:colId xmlns:a16="http://schemas.microsoft.com/office/drawing/2014/main" val="2053602576"/>
                    </a:ext>
                  </a:extLst>
                </a:gridCol>
                <a:gridCol w="390167">
                  <a:extLst>
                    <a:ext uri="{9D8B030D-6E8A-4147-A177-3AD203B41FA5}">
                      <a16:colId xmlns:a16="http://schemas.microsoft.com/office/drawing/2014/main" val="3886726220"/>
                    </a:ext>
                  </a:extLst>
                </a:gridCol>
                <a:gridCol w="390167">
                  <a:extLst>
                    <a:ext uri="{9D8B030D-6E8A-4147-A177-3AD203B41FA5}">
                      <a16:colId xmlns:a16="http://schemas.microsoft.com/office/drawing/2014/main" val="2012209367"/>
                    </a:ext>
                  </a:extLst>
                </a:gridCol>
                <a:gridCol w="390167">
                  <a:extLst>
                    <a:ext uri="{9D8B030D-6E8A-4147-A177-3AD203B41FA5}">
                      <a16:colId xmlns:a16="http://schemas.microsoft.com/office/drawing/2014/main" val="3038004322"/>
                    </a:ext>
                  </a:extLst>
                </a:gridCol>
                <a:gridCol w="390167">
                  <a:extLst>
                    <a:ext uri="{9D8B030D-6E8A-4147-A177-3AD203B41FA5}">
                      <a16:colId xmlns:a16="http://schemas.microsoft.com/office/drawing/2014/main" val="2430427476"/>
                    </a:ext>
                  </a:extLst>
                </a:gridCol>
                <a:gridCol w="390167">
                  <a:extLst>
                    <a:ext uri="{9D8B030D-6E8A-4147-A177-3AD203B41FA5}">
                      <a16:colId xmlns:a16="http://schemas.microsoft.com/office/drawing/2014/main" val="1976597715"/>
                    </a:ext>
                  </a:extLst>
                </a:gridCol>
                <a:gridCol w="390167">
                  <a:extLst>
                    <a:ext uri="{9D8B030D-6E8A-4147-A177-3AD203B41FA5}">
                      <a16:colId xmlns:a16="http://schemas.microsoft.com/office/drawing/2014/main" val="1419853733"/>
                    </a:ext>
                  </a:extLst>
                </a:gridCol>
                <a:gridCol w="390167">
                  <a:extLst>
                    <a:ext uri="{9D8B030D-6E8A-4147-A177-3AD203B41FA5}">
                      <a16:colId xmlns:a16="http://schemas.microsoft.com/office/drawing/2014/main" val="1657023242"/>
                    </a:ext>
                  </a:extLst>
                </a:gridCol>
              </a:tblGrid>
              <a:tr h="872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4464818"/>
                  </a:ext>
                </a:extLst>
              </a:tr>
              <a:tr h="872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8572684"/>
                  </a:ext>
                </a:extLst>
              </a:tr>
              <a:tr h="872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0452680"/>
                  </a:ext>
                </a:extLst>
              </a:tr>
              <a:tr h="872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5972905"/>
                  </a:ext>
                </a:extLst>
              </a:tr>
              <a:tr h="872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9145318"/>
                  </a:ext>
                </a:extLst>
              </a:tr>
              <a:tr h="872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2141898"/>
                  </a:ext>
                </a:extLst>
              </a:tr>
              <a:tr h="872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190428"/>
                  </a:ext>
                </a:extLst>
              </a:tr>
              <a:tr h="872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4680589"/>
                  </a:ext>
                </a:extLst>
              </a:tr>
              <a:tr h="872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2359698"/>
                  </a:ext>
                </a:extLst>
              </a:tr>
              <a:tr h="872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6564845"/>
                  </a:ext>
                </a:extLst>
              </a:tr>
              <a:tr h="872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7923134"/>
                  </a:ext>
                </a:extLst>
              </a:tr>
              <a:tr h="872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4352252"/>
                  </a:ext>
                </a:extLst>
              </a:tr>
              <a:tr h="872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3727436"/>
                  </a:ext>
                </a:extLst>
              </a:tr>
              <a:tr h="872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420947"/>
                  </a:ext>
                </a:extLst>
              </a:tr>
              <a:tr h="872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524803"/>
                  </a:ext>
                </a:extLst>
              </a:tr>
              <a:tr h="872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1916082"/>
                  </a:ext>
                </a:extLst>
              </a:tr>
              <a:tr h="872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6252685"/>
                  </a:ext>
                </a:extLst>
              </a:tr>
              <a:tr h="872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9064936"/>
                  </a:ext>
                </a:extLst>
              </a:tr>
              <a:tr h="872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6130326"/>
                  </a:ext>
                </a:extLst>
              </a:tr>
              <a:tr h="872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1759915"/>
                  </a:ext>
                </a:extLst>
              </a:tr>
              <a:tr h="872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2199065"/>
                  </a:ext>
                </a:extLst>
              </a:tr>
              <a:tr h="872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9127101"/>
                  </a:ext>
                </a:extLst>
              </a:tr>
              <a:tr h="872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404116"/>
                  </a:ext>
                </a:extLst>
              </a:tr>
              <a:tr h="872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1587697"/>
                  </a:ext>
                </a:extLst>
              </a:tr>
              <a:tr h="872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0158586"/>
                  </a:ext>
                </a:extLst>
              </a:tr>
              <a:tr h="872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8544096"/>
                  </a:ext>
                </a:extLst>
              </a:tr>
              <a:tr h="872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5160869"/>
                  </a:ext>
                </a:extLst>
              </a:tr>
              <a:tr h="872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7788736"/>
                  </a:ext>
                </a:extLst>
              </a:tr>
              <a:tr h="872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5515011"/>
                  </a:ext>
                </a:extLst>
              </a:tr>
              <a:tr h="872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4737284"/>
                  </a:ext>
                </a:extLst>
              </a:tr>
              <a:tr h="872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1440672"/>
                  </a:ext>
                </a:extLst>
              </a:tr>
              <a:tr h="872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5681301"/>
                  </a:ext>
                </a:extLst>
              </a:tr>
              <a:tr h="872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1635679"/>
                  </a:ext>
                </a:extLst>
              </a:tr>
              <a:tr h="872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8904207"/>
                  </a:ext>
                </a:extLst>
              </a:tr>
              <a:tr h="872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6120401"/>
                  </a:ext>
                </a:extLst>
              </a:tr>
              <a:tr h="872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3421461"/>
                  </a:ext>
                </a:extLst>
              </a:tr>
              <a:tr h="872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711052"/>
                  </a:ext>
                </a:extLst>
              </a:tr>
              <a:tr h="872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6195872"/>
                  </a:ext>
                </a:extLst>
              </a:tr>
              <a:tr h="872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2706537"/>
                  </a:ext>
                </a:extLst>
              </a:tr>
              <a:tr h="872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4213736"/>
                  </a:ext>
                </a:extLst>
              </a:tr>
              <a:tr h="872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374280"/>
                  </a:ext>
                </a:extLst>
              </a:tr>
              <a:tr h="872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9326135"/>
                  </a:ext>
                </a:extLst>
              </a:tr>
              <a:tr h="872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0923287"/>
                  </a:ext>
                </a:extLst>
              </a:tr>
              <a:tr h="872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6836330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DD0378E2-52F3-7EF7-AD0D-0459CD33BE3C}"/>
              </a:ext>
            </a:extLst>
          </p:cNvPr>
          <p:cNvSpPr/>
          <p:nvPr/>
        </p:nvSpPr>
        <p:spPr>
          <a:xfrm>
            <a:off x="90107" y="45365"/>
            <a:ext cx="12168054" cy="68580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10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E267568-A4C0-1174-F51E-A118AB352FE7}"/>
              </a:ext>
            </a:extLst>
          </p:cNvPr>
          <p:cNvSpPr/>
          <p:nvPr/>
        </p:nvSpPr>
        <p:spPr>
          <a:xfrm>
            <a:off x="98082" y="31429"/>
            <a:ext cx="12093918" cy="725285"/>
          </a:xfrm>
          <a:prstGeom prst="roundRect">
            <a:avLst/>
          </a:prstGeom>
          <a:solidFill>
            <a:srgbClr val="63C9D7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3600" b="0" i="0" cap="none" spc="0" dirty="0">
                <a:ln w="0"/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India</a:t>
            </a:r>
            <a:r>
              <a:rPr lang="en-IN" sz="3600" b="0" i="0" cap="none" spc="0" baseline="0" dirty="0">
                <a:ln w="0"/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 </a:t>
            </a:r>
            <a:r>
              <a:rPr lang="en-IN" sz="3600" b="0" i="0" cap="none" spc="0" dirty="0">
                <a:ln w="0"/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Bike</a:t>
            </a:r>
            <a:r>
              <a:rPr lang="en-IN" sz="3600" b="0" i="0" cap="none" spc="0" baseline="0" dirty="0">
                <a:ln w="0"/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 </a:t>
            </a:r>
            <a:r>
              <a:rPr lang="en-IN" sz="3600" b="0" i="0" cap="none" spc="0" dirty="0">
                <a:ln w="0"/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Sales</a:t>
            </a:r>
            <a:r>
              <a:rPr lang="en-IN" sz="3600" b="0" i="0" cap="none" spc="0" baseline="0" dirty="0">
                <a:ln w="0"/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 </a:t>
            </a:r>
            <a:r>
              <a:rPr lang="en-IN" sz="3600" b="0" i="0" cap="none" spc="0" dirty="0">
                <a:ln w="0"/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Analysis</a:t>
            </a:r>
          </a:p>
          <a:p>
            <a:pPr algn="ctr"/>
            <a:endParaRPr lang="en-IN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7BE576-C681-09C7-EF06-4CD68DF79A6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282" y="-1"/>
            <a:ext cx="1685415" cy="74628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7344D7AB-F715-4E15-975E-1720222BB75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45951521"/>
              </p:ext>
            </p:extLst>
          </p:nvPr>
        </p:nvGraphicFramePr>
        <p:xfrm>
          <a:off x="2690966" y="1955837"/>
          <a:ext cx="4879623" cy="22570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C60E358C-DFC1-44A7-B847-67D85FF91B8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91200310"/>
              </p:ext>
            </p:extLst>
          </p:nvPr>
        </p:nvGraphicFramePr>
        <p:xfrm>
          <a:off x="2713513" y="4295806"/>
          <a:ext cx="4834528" cy="25522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F75A4C54-033E-4401-AAE5-E3C28B99B59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31353894"/>
              </p:ext>
            </p:extLst>
          </p:nvPr>
        </p:nvGraphicFramePr>
        <p:xfrm>
          <a:off x="7748504" y="1960737"/>
          <a:ext cx="4426796" cy="22472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65742DC8-4576-42FE-BDC1-AC98F0864F2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5980593"/>
              </p:ext>
            </p:extLst>
          </p:nvPr>
        </p:nvGraphicFramePr>
        <p:xfrm>
          <a:off x="7669877" y="4288199"/>
          <a:ext cx="4439948" cy="25251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pic>
        <p:nvPicPr>
          <p:cNvPr id="10" name="table">
            <a:extLst>
              <a:ext uri="{FF2B5EF4-FFF2-40B4-BE49-F238E27FC236}">
                <a16:creationId xmlns:a16="http://schemas.microsoft.com/office/drawing/2014/main" id="{523C268F-F08F-31CB-A6B0-20C5B9A2FFE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136" y="1950707"/>
            <a:ext cx="2566640" cy="2268265"/>
          </a:xfrm>
          <a:prstGeom prst="rect">
            <a:avLst/>
          </a:prstGeom>
        </p:spPr>
      </p:pic>
      <p:pic>
        <p:nvPicPr>
          <p:cNvPr id="11" name="table">
            <a:extLst>
              <a:ext uri="{FF2B5EF4-FFF2-40B4-BE49-F238E27FC236}">
                <a16:creationId xmlns:a16="http://schemas.microsoft.com/office/drawing/2014/main" id="{D6C94729-81A9-6DB8-1AE7-FCA28A67501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107" y="4288199"/>
            <a:ext cx="2534698" cy="255223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228559B-656B-E2E6-7E7D-88784D4F9BB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9028" y="-1"/>
            <a:ext cx="1734267" cy="78549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C7CAF271-C89F-BB66-C79D-46E9A6CBAE7D}"/>
              </a:ext>
            </a:extLst>
          </p:cNvPr>
          <p:cNvSpPr/>
          <p:nvPr/>
        </p:nvSpPr>
        <p:spPr>
          <a:xfrm>
            <a:off x="104519" y="751585"/>
            <a:ext cx="2940531" cy="116371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F67DA6F-9654-2367-4FC4-B1C84567BA8F}"/>
              </a:ext>
            </a:extLst>
          </p:cNvPr>
          <p:cNvSpPr/>
          <p:nvPr/>
        </p:nvSpPr>
        <p:spPr>
          <a:xfrm>
            <a:off x="9444459" y="758873"/>
            <a:ext cx="2528154" cy="115399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B48A2B6-5634-CC06-3C91-39F96B29E97C}"/>
              </a:ext>
            </a:extLst>
          </p:cNvPr>
          <p:cNvSpPr/>
          <p:nvPr/>
        </p:nvSpPr>
        <p:spPr>
          <a:xfrm>
            <a:off x="6490531" y="773679"/>
            <a:ext cx="2743287" cy="114903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F184190-545C-B322-B8F0-6496E58B99F7}"/>
              </a:ext>
            </a:extLst>
          </p:cNvPr>
          <p:cNvSpPr/>
          <p:nvPr/>
        </p:nvSpPr>
        <p:spPr>
          <a:xfrm>
            <a:off x="3246692" y="792125"/>
            <a:ext cx="3033198" cy="112074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8AB0462-B354-AA38-FA1F-4C7F659964E3}"/>
              </a:ext>
            </a:extLst>
          </p:cNvPr>
          <p:cNvSpPr/>
          <p:nvPr/>
        </p:nvSpPr>
        <p:spPr>
          <a:xfrm>
            <a:off x="699854" y="858843"/>
            <a:ext cx="1789234" cy="40011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TOTAL COST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A34AE07-8F81-820B-68C6-E3259A426D2C}"/>
              </a:ext>
            </a:extLst>
          </p:cNvPr>
          <p:cNvSpPr/>
          <p:nvPr/>
        </p:nvSpPr>
        <p:spPr>
          <a:xfrm>
            <a:off x="3870933" y="858843"/>
            <a:ext cx="1789234" cy="40011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TOTAL</a:t>
            </a:r>
            <a:r>
              <a:rPr lang="en-IN" sz="1600" b="1" baseline="0">
                <a:solidFill>
                  <a:schemeClr val="tx1">
                    <a:lumMod val="75000"/>
                    <a:lumOff val="25000"/>
                  </a:schemeClr>
                </a:solidFill>
              </a:rPr>
              <a:t> UNITS</a:t>
            </a:r>
            <a:endParaRPr lang="en-IN" sz="16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D37400F-3256-C952-DAC6-65F52A5FB9BB}"/>
              </a:ext>
            </a:extLst>
          </p:cNvPr>
          <p:cNvSpPr/>
          <p:nvPr/>
        </p:nvSpPr>
        <p:spPr>
          <a:xfrm>
            <a:off x="7086677" y="858843"/>
            <a:ext cx="1789234" cy="40011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TOTAL STATES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7F56269-7274-F4C4-0042-C9DAB7DE0812}"/>
              </a:ext>
            </a:extLst>
          </p:cNvPr>
          <p:cNvSpPr/>
          <p:nvPr/>
        </p:nvSpPr>
        <p:spPr>
          <a:xfrm>
            <a:off x="7086677" y="1355366"/>
            <a:ext cx="1789234" cy="4572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CE304517-A62A-4B88-83BA-F6A963B541F0}" type="TxLink">
              <a:rPr lang="en-US" sz="1600" b="1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pPr algn="ctr"/>
              <a:t>10</a:t>
            </a:fld>
            <a:endParaRPr lang="en-IN" sz="1600" b="1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6A113B4-331B-D93C-2080-368AA376510D}"/>
              </a:ext>
            </a:extLst>
          </p:cNvPr>
          <p:cNvSpPr/>
          <p:nvPr/>
        </p:nvSpPr>
        <p:spPr>
          <a:xfrm>
            <a:off x="3870933" y="1348198"/>
            <a:ext cx="1789234" cy="4572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D8B88C6-B1DF-4438-9367-66801FC7095E}" type="TxLink">
              <a:rPr lang="en-US" sz="1800" b="1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pPr algn="ctr"/>
              <a:t>40</a:t>
            </a:fld>
            <a:endParaRPr lang="en-IN" sz="1800" b="1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A8FD3BD-717C-ACF5-0F52-96D6E0EE1F45}"/>
              </a:ext>
            </a:extLst>
          </p:cNvPr>
          <p:cNvSpPr/>
          <p:nvPr/>
        </p:nvSpPr>
        <p:spPr>
          <a:xfrm>
            <a:off x="722527" y="1373980"/>
            <a:ext cx="1789234" cy="4572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C9917CF5-1592-404D-8EF8-35CFF58AE09F}" type="TxLink">
              <a:rPr lang="en-US" sz="1600" b="1" i="0" u="none" strike="noStrike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</a:rPr>
              <a:pPr algn="ctr"/>
              <a:t>2243287224</a:t>
            </a:fld>
            <a:endParaRPr lang="en-IN" sz="16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C7292C7-A2C1-2A66-7F37-60BF22BD4669}"/>
              </a:ext>
            </a:extLst>
          </p:cNvPr>
          <p:cNvSpPr/>
          <p:nvPr/>
        </p:nvSpPr>
        <p:spPr>
          <a:xfrm>
            <a:off x="9961902" y="858843"/>
            <a:ext cx="1789234" cy="40369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TOTAL</a:t>
            </a:r>
            <a:r>
              <a:rPr lang="en-IN" sz="1600" b="1" baseline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SALES</a:t>
            </a:r>
          </a:p>
          <a:p>
            <a:pPr algn="ctr"/>
            <a:endParaRPr lang="en-IN" sz="1600" b="1" baseline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74293F3-C29F-59AB-B1DB-50C80BC702F0}"/>
              </a:ext>
            </a:extLst>
          </p:cNvPr>
          <p:cNvSpPr/>
          <p:nvPr/>
        </p:nvSpPr>
        <p:spPr>
          <a:xfrm>
            <a:off x="9933431" y="1380766"/>
            <a:ext cx="1789234" cy="4318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2280EBD-B7C8-48A5-8E3C-54BDDDA4E0A1}" type="TxLink">
              <a:rPr lang="en-US" sz="1800" b="1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pPr algn="ctr"/>
              <a:t>1338289740</a:t>
            </a:fld>
            <a:endParaRPr lang="en-IN" sz="1800"/>
          </a:p>
        </p:txBody>
      </p:sp>
    </p:spTree>
    <p:extLst>
      <p:ext uri="{BB962C8B-B14F-4D97-AF65-F5344CB8AC3E}">
        <p14:creationId xmlns:p14="http://schemas.microsoft.com/office/powerpoint/2010/main" val="12387108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3E09774-3A8F-CE69-DFAB-6677F8739DBB}"/>
              </a:ext>
            </a:extLst>
          </p:cNvPr>
          <p:cNvSpPr txBox="1"/>
          <p:nvPr/>
        </p:nvSpPr>
        <p:spPr>
          <a:xfrm>
            <a:off x="3617434" y="2122925"/>
            <a:ext cx="565354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800" dirty="0"/>
              <a:t>thanks!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649FB6A8-99DC-3544-4A8E-71F61657E307}"/>
              </a:ext>
            </a:extLst>
          </p:cNvPr>
          <p:cNvSpPr/>
          <p:nvPr/>
        </p:nvSpPr>
        <p:spPr>
          <a:xfrm rot="281513">
            <a:off x="4178977" y="3550721"/>
            <a:ext cx="1971876" cy="368374"/>
          </a:xfrm>
          <a:custGeom>
            <a:avLst/>
            <a:gdLst>
              <a:gd name="connsiteX0" fmla="*/ 4569032 w 4609853"/>
              <a:gd name="connsiteY0" fmla="*/ 413392 h 1039050"/>
              <a:gd name="connsiteX1" fmla="*/ 2522490 w 4609853"/>
              <a:gd name="connsiteY1" fmla="*/ 1039051 h 1039050"/>
              <a:gd name="connsiteX2" fmla="*/ 22339 w 4609853"/>
              <a:gd name="connsiteY2" fmla="*/ 85017 h 1039050"/>
              <a:gd name="connsiteX3" fmla="*/ 79146 w 4609853"/>
              <a:gd name="connsiteY3" fmla="*/ 10798 h 1039050"/>
              <a:gd name="connsiteX4" fmla="*/ 2580535 w 4609853"/>
              <a:gd name="connsiteY4" fmla="*/ 674186 h 1039050"/>
              <a:gd name="connsiteX5" fmla="*/ 4488602 w 4609853"/>
              <a:gd name="connsiteY5" fmla="*/ 284033 h 1039050"/>
              <a:gd name="connsiteX6" fmla="*/ 4569032 w 4609853"/>
              <a:gd name="connsiteY6" fmla="*/ 413392 h 103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09853" h="1039050">
                <a:moveTo>
                  <a:pt x="4569032" y="413392"/>
                </a:moveTo>
                <a:cubicBezTo>
                  <a:pt x="4015524" y="821376"/>
                  <a:pt x="3213233" y="1039051"/>
                  <a:pt x="2522490" y="1039051"/>
                </a:cubicBezTo>
                <a:cubicBezTo>
                  <a:pt x="1553940" y="1039051"/>
                  <a:pt x="682003" y="680825"/>
                  <a:pt x="22339" y="85017"/>
                </a:cubicBezTo>
                <a:cubicBezTo>
                  <a:pt x="-29486" y="38164"/>
                  <a:pt x="16958" y="-25682"/>
                  <a:pt x="79146" y="10798"/>
                </a:cubicBezTo>
                <a:cubicBezTo>
                  <a:pt x="791045" y="425003"/>
                  <a:pt x="1671279" y="674186"/>
                  <a:pt x="2580535" y="674186"/>
                </a:cubicBezTo>
                <a:cubicBezTo>
                  <a:pt x="3193755" y="674186"/>
                  <a:pt x="3868334" y="547313"/>
                  <a:pt x="4488602" y="284033"/>
                </a:cubicBezTo>
                <a:cubicBezTo>
                  <a:pt x="4582300" y="244228"/>
                  <a:pt x="4660662" y="345393"/>
                  <a:pt x="4569032" y="413392"/>
                </a:cubicBezTo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B1F293B0-98C4-11F0-D83D-176FDE62D6C0}"/>
              </a:ext>
            </a:extLst>
          </p:cNvPr>
          <p:cNvSpPr/>
          <p:nvPr/>
        </p:nvSpPr>
        <p:spPr>
          <a:xfrm>
            <a:off x="5961069" y="3569475"/>
            <a:ext cx="405318" cy="330866"/>
          </a:xfrm>
          <a:custGeom>
            <a:avLst/>
            <a:gdLst>
              <a:gd name="connsiteX0" fmla="*/ 691963 w 947553"/>
              <a:gd name="connsiteY0" fmla="*/ 249669 h 933254"/>
              <a:gd name="connsiteX1" fmla="*/ 45996 w 947553"/>
              <a:gd name="connsiteY1" fmla="*/ 228114 h 933254"/>
              <a:gd name="connsiteX2" fmla="*/ 32309 w 947553"/>
              <a:gd name="connsiteY2" fmla="*/ 153476 h 933254"/>
              <a:gd name="connsiteX3" fmla="*/ 928297 w 947553"/>
              <a:gd name="connsiteY3" fmla="*/ 69723 h 933254"/>
              <a:gd name="connsiteX4" fmla="*/ 615258 w 947553"/>
              <a:gd name="connsiteY4" fmla="*/ 913476 h 933254"/>
              <a:gd name="connsiteX5" fmla="*/ 546430 w 947553"/>
              <a:gd name="connsiteY5" fmla="*/ 880719 h 933254"/>
              <a:gd name="connsiteX6" fmla="*/ 691963 w 947553"/>
              <a:gd name="connsiteY6" fmla="*/ 249669 h 9332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47553" h="933254">
                <a:moveTo>
                  <a:pt x="691963" y="249669"/>
                </a:moveTo>
                <a:cubicBezTo>
                  <a:pt x="621477" y="159286"/>
                  <a:pt x="224275" y="206968"/>
                  <a:pt x="45996" y="228114"/>
                </a:cubicBezTo>
                <a:cubicBezTo>
                  <a:pt x="-8325" y="234743"/>
                  <a:pt x="-16612" y="187480"/>
                  <a:pt x="32309" y="153476"/>
                </a:cubicBezTo>
                <a:cubicBezTo>
                  <a:pt x="348663" y="-69171"/>
                  <a:pt x="867765" y="-4906"/>
                  <a:pt x="928297" y="69723"/>
                </a:cubicBezTo>
                <a:cubicBezTo>
                  <a:pt x="988828" y="144770"/>
                  <a:pt x="912543" y="665111"/>
                  <a:pt x="615258" y="913476"/>
                </a:cubicBezTo>
                <a:cubicBezTo>
                  <a:pt x="569652" y="951614"/>
                  <a:pt x="526123" y="931297"/>
                  <a:pt x="546430" y="880719"/>
                </a:cubicBezTo>
                <a:cubicBezTo>
                  <a:pt x="613191" y="714041"/>
                  <a:pt x="762866" y="340471"/>
                  <a:pt x="691963" y="249669"/>
                </a:cubicBezTo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49120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144</TotalTime>
  <Words>234</Words>
  <Application>Microsoft Office PowerPoint</Application>
  <PresentationFormat>Widescreen</PresentationFormat>
  <Paragraphs>47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sohail ansari</dc:creator>
  <cp:lastModifiedBy>sohail ansari</cp:lastModifiedBy>
  <cp:revision>1</cp:revision>
  <dcterms:created xsi:type="dcterms:W3CDTF">2025-09-24T20:46:12Z</dcterms:created>
  <dcterms:modified xsi:type="dcterms:W3CDTF">2025-09-25T11:53:05Z</dcterms:modified>
</cp:coreProperties>
</file>